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17" r:id="rId5"/>
    <p:sldId id="307" r:id="rId6"/>
    <p:sldId id="308" r:id="rId7"/>
    <p:sldId id="278" r:id="rId8"/>
    <p:sldId id="309" r:id="rId9"/>
    <p:sldId id="263" r:id="rId10"/>
    <p:sldId id="310" r:id="rId11"/>
    <p:sldId id="311" r:id="rId12"/>
    <p:sldId id="312" r:id="rId13"/>
    <p:sldId id="316" r:id="rId14"/>
    <p:sldId id="314" r:id="rId15"/>
    <p:sldId id="315" r:id="rId16"/>
    <p:sldId id="30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5339" autoAdjust="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2/10/2026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9986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27485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pn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Relationship Id="rId5" Type="http://schemas.microsoft.com/office/2007/relationships/hdphoto" Target="../media/hdphoto2.wdp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275385"/>
          </a:xfrm>
        </p:spPr>
        <p:txBody>
          <a:bodyPr anchor="ctr"/>
          <a:lstStyle/>
          <a:p>
            <a:r>
              <a:rPr lang="en-US" sz="4000" dirty="0"/>
              <a:t>PIZZA SALES DATA ANALYSIS – BUSINESS SUMMARY</a:t>
            </a:r>
            <a:br>
              <a:rPr lang="en-US" sz="4000" dirty="0"/>
            </a:br>
            <a:br>
              <a:rPr lang="en-US" sz="4000" dirty="0"/>
            </a:br>
            <a:r>
              <a:rPr lang="en-US" sz="2000" dirty="0"/>
              <a:t>by</a:t>
            </a:r>
            <a:r>
              <a:rPr lang="en-US" dirty="0"/>
              <a:t> </a:t>
            </a:r>
            <a:br>
              <a:rPr lang="en-US" dirty="0"/>
            </a:br>
            <a:r>
              <a:rPr lang="en-US" sz="3000" dirty="0"/>
              <a:t>AFOLAYAN OREOFEOLUWA</a:t>
            </a:r>
            <a:br>
              <a:rPr lang="en-US" sz="8800" dirty="0"/>
            </a:br>
            <a:r>
              <a:rPr lang="en-US" sz="1800" dirty="0"/>
              <a:t>10</a:t>
            </a:r>
            <a:r>
              <a:rPr lang="en-US" sz="1800" baseline="30000" dirty="0"/>
              <a:t>th</a:t>
            </a:r>
            <a:r>
              <a:rPr lang="en-US" sz="1800" dirty="0"/>
              <a:t> of February, 2026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7" y="914400"/>
            <a:ext cx="5641848" cy="3595255"/>
          </a:xfrm>
        </p:spPr>
        <p:txBody>
          <a:bodyPr/>
          <a:lstStyle/>
          <a:p>
            <a:r>
              <a:rPr lang="en-US" sz="4000" dirty="0">
                <a:solidFill>
                  <a:schemeClr val="tx1">
                    <a:lumMod val="75000"/>
                  </a:schemeClr>
                </a:solidFill>
              </a:rPr>
              <a:t>OUTLINE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4458395"/>
              </p:ext>
            </p:extLst>
          </p:nvPr>
        </p:nvGraphicFramePr>
        <p:xfrm>
          <a:off x="6884378" y="134621"/>
          <a:ext cx="4695092" cy="2770148"/>
        </p:xfrm>
        <a:graphic>
          <a:graphicData uri="http://schemas.openxmlformats.org/drawingml/2006/table">
            <a:tbl>
              <a:tblPr firstRow="1" bandRow="1"/>
              <a:tblGrid>
                <a:gridCol w="4695092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440599">
                <a:tc>
                  <a:txBody>
                    <a:bodyPr/>
                    <a:lstStyle/>
                    <a:p>
                      <a:pPr marL="0" indent="0" algn="l">
                        <a:buFont typeface="Wingdings" panose="05000000000000000000" pitchFamily="2" charset="2"/>
                        <a:buNone/>
                      </a:pPr>
                      <a:r>
                        <a:rPr lang="en-US" sz="2000" cap="none" dirty="0"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 set overview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705495">
                <a:tc>
                  <a:txBody>
                    <a:bodyPr/>
                    <a:lstStyle/>
                    <a:p>
                      <a:pPr marL="0" indent="0" algn="l">
                        <a:buFont typeface="Wingdings" panose="05000000000000000000" pitchFamily="2" charset="2"/>
                        <a:buNone/>
                      </a:pPr>
                      <a:r>
                        <a:rPr lang="en-US" sz="2000" dirty="0">
                          <a:latin typeface="+mj-lt"/>
                        </a:rPr>
                        <a:t>Overall business performance: key performance indicators (KPIs)</a:t>
                      </a:r>
                      <a:endParaRPr lang="en-US" sz="2000" b="0" kern="1200" dirty="0">
                        <a:solidFill>
                          <a:schemeClr val="tx1"/>
                        </a:solidFill>
                        <a:latin typeface="+mj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6139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2000" kern="1200" cap="none" dirty="0">
                          <a:solidFill>
                            <a:schemeClr val="tx1"/>
                          </a:solidFill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Peak ordering time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6139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2000" kern="1200" cap="none" dirty="0">
                          <a:solidFill>
                            <a:schemeClr val="tx1"/>
                          </a:solidFill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Sales by pizza category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3469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dirty="0">
                        <a:latin typeface="+mj-lt"/>
                        <a:cs typeface="Gill Sans Light" panose="020B0302020104020203" pitchFamily="34" charset="-79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09885ED-EC56-94DD-81FA-0269C36C81BF}"/>
              </a:ext>
            </a:extLst>
          </p:cNvPr>
          <p:cNvSpPr txBox="1"/>
          <p:nvPr/>
        </p:nvSpPr>
        <p:spPr>
          <a:xfrm>
            <a:off x="11579470" y="6193831"/>
            <a:ext cx="9506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58FB4751-880F-D840-AAA9-3A15815CC996}" type="slidenum">
              <a:rPr lang="en-US" sz="2400" smtClean="0">
                <a:latin typeface="+mj-lt"/>
              </a:rPr>
              <a:pPr/>
              <a:t>2</a:t>
            </a:fld>
            <a:endParaRPr lang="en-US" sz="2400" dirty="0">
              <a:latin typeface="+mj-lt"/>
            </a:endParaRPr>
          </a:p>
        </p:txBody>
      </p:sp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D2190D87-F99F-2C3E-E44A-814BF82EF3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2968359"/>
              </p:ext>
            </p:extLst>
          </p:nvPr>
        </p:nvGraphicFramePr>
        <p:xfrm>
          <a:off x="6884378" y="2624567"/>
          <a:ext cx="4695092" cy="4344868"/>
        </p:xfrm>
        <a:graphic>
          <a:graphicData uri="http://schemas.openxmlformats.org/drawingml/2006/table">
            <a:tbl>
              <a:tblPr firstRow="1" bandRow="1"/>
              <a:tblGrid>
                <a:gridCol w="4695092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6638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2000" kern="1200" cap="none" dirty="0">
                          <a:solidFill>
                            <a:schemeClr val="tx1"/>
                          </a:solidFill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Revenue by pizza category</a:t>
                      </a:r>
                    </a:p>
                    <a:p>
                      <a:pPr marL="0" indent="0" algn="l">
                        <a:buFont typeface="Wingdings" panose="05000000000000000000" pitchFamily="2" charset="2"/>
                        <a:buNone/>
                      </a:pPr>
                      <a:endParaRPr lang="en-US" sz="2000" cap="none" dirty="0">
                        <a:latin typeface="+mj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6638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Top selling pizzas</a:t>
                      </a:r>
                    </a:p>
                    <a:p>
                      <a:pPr marL="0" indent="0" algn="l">
                        <a:buFont typeface="Wingdings" panose="05000000000000000000" pitchFamily="2" charset="2"/>
                        <a:buNone/>
                      </a:pPr>
                      <a:endParaRPr lang="en-US" sz="2000" cap="none" dirty="0">
                        <a:latin typeface="+mj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6638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cap="none" dirty="0">
                          <a:solidFill>
                            <a:schemeClr val="tx1"/>
                          </a:solidFill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Order by day, month and quarter order trends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0050968"/>
                  </a:ext>
                </a:extLst>
              </a:tr>
              <a:tr h="5604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Sales by pizza size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9643452"/>
                  </a:ext>
                </a:extLst>
              </a:tr>
              <a:tr h="5604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Key business findings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04027787"/>
                  </a:ext>
                </a:extLst>
              </a:tr>
              <a:tr h="5604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j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Business recommendations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5604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2000" b="0" kern="1200" dirty="0">
                        <a:solidFill>
                          <a:schemeClr val="tx1"/>
                        </a:solidFill>
                        <a:latin typeface="+mj-lt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49337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152" y="135082"/>
            <a:ext cx="5641848" cy="945573"/>
          </a:xfrm>
        </p:spPr>
        <p:txBody>
          <a:bodyPr/>
          <a:lstStyle/>
          <a:p>
            <a:r>
              <a:rPr lang="en-US" sz="4000" dirty="0"/>
              <a:t>DATASET OVERVIEW</a:t>
            </a:r>
          </a:p>
        </p:txBody>
      </p:sp>
      <p:pic>
        <p:nvPicPr>
          <p:cNvPr id="1026" name="Picture 2" descr="13,000+ Pizza Variety Stock Photos, Pictures &amp; Royalty-Free ...">
            <a:extLst>
              <a:ext uri="{FF2B5EF4-FFF2-40B4-BE49-F238E27FC236}">
                <a16:creationId xmlns:a16="http://schemas.microsoft.com/office/drawing/2014/main" id="{41588BFE-2CCC-BE80-8EA7-DB51DA192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0" y="0"/>
            <a:ext cx="51435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C0A5AF-D998-64CE-0875-12C97EEB4134}"/>
              </a:ext>
            </a:extLst>
          </p:cNvPr>
          <p:cNvSpPr txBox="1"/>
          <p:nvPr/>
        </p:nvSpPr>
        <p:spPr>
          <a:xfrm>
            <a:off x="155206" y="1080655"/>
            <a:ext cx="609426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2000" cap="none" dirty="0">
                <a:latin typeface="+mj-lt"/>
              </a:rPr>
              <a:t>Sales transaction data from a pizza shop</a:t>
            </a:r>
          </a:p>
          <a:p>
            <a:pPr algn="l"/>
            <a:endParaRPr lang="en-US" sz="2000" cap="none" dirty="0">
              <a:latin typeface="+mj-lt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2000" cap="none" dirty="0">
                <a:latin typeface="+mj-lt"/>
              </a:rPr>
              <a:t>Covers customer orders across different time periods</a:t>
            </a:r>
          </a:p>
          <a:p>
            <a:pPr algn="l"/>
            <a:endParaRPr lang="en-US" sz="2000" cap="none" dirty="0">
              <a:latin typeface="+mj-lt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2000" cap="none" dirty="0">
                <a:latin typeface="+mj-lt"/>
              </a:rPr>
              <a:t>Key data fields include:</a:t>
            </a:r>
            <a:br>
              <a:rPr lang="en-US" sz="2000" cap="none" dirty="0">
                <a:latin typeface="+mj-lt"/>
              </a:rPr>
            </a:br>
            <a:r>
              <a:rPr lang="en-US" sz="2000" cap="none" dirty="0">
                <a:latin typeface="+mj-lt"/>
              </a:rPr>
              <a:t>order time and date</a:t>
            </a:r>
            <a:br>
              <a:rPr lang="en-US" sz="2000" cap="none" dirty="0">
                <a:latin typeface="+mj-lt"/>
              </a:rPr>
            </a:br>
            <a:r>
              <a:rPr lang="en-US" sz="2000" cap="none" dirty="0">
                <a:latin typeface="+mj-lt"/>
              </a:rPr>
              <a:t>pizza category and size</a:t>
            </a:r>
            <a:br>
              <a:rPr lang="en-US" sz="2000" cap="none" dirty="0">
                <a:latin typeface="+mj-lt"/>
              </a:rPr>
            </a:br>
            <a:r>
              <a:rPr lang="en-US" sz="2000" cap="none" dirty="0">
                <a:latin typeface="+mj-lt"/>
              </a:rPr>
              <a:t>quantity sold</a:t>
            </a:r>
            <a:br>
              <a:rPr lang="en-US" sz="2000" cap="none" dirty="0">
                <a:latin typeface="+mj-lt"/>
              </a:rPr>
            </a:br>
            <a:r>
              <a:rPr lang="en-US" sz="2000" cap="none" dirty="0">
                <a:latin typeface="+mj-lt"/>
              </a:rPr>
              <a:t>revenue generated</a:t>
            </a:r>
            <a:br>
              <a:rPr lang="en-US" sz="2000" cap="none" dirty="0">
                <a:latin typeface="+mj-lt"/>
              </a:rPr>
            </a:br>
            <a:r>
              <a:rPr lang="en-US" sz="2000" cap="none" dirty="0">
                <a:latin typeface="+mj-lt"/>
              </a:rPr>
              <a:t>strategies for growth</a:t>
            </a:r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377AF6-2477-81EC-D1BC-43FD72DF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428" y="0"/>
            <a:ext cx="11585864" cy="1367027"/>
          </a:xfrm>
        </p:spPr>
        <p:txBody>
          <a:bodyPr anchor="b"/>
          <a:lstStyle/>
          <a:p>
            <a:pPr algn="ctr"/>
            <a:r>
              <a:rPr lang="en-US" sz="4000" dirty="0"/>
              <a:t>OVERALL BUSINESS PERFORMANCE: KEY PERFORMANCE INDICATORS (KPIS)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00EBDF4-3413-FCF9-2E25-9A254A61F23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297267" y="2125927"/>
            <a:ext cx="5449824" cy="286792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cap="none" dirty="0">
                <a:latin typeface="+mj-lt"/>
              </a:rPr>
              <a:t>Total revenue: $817.86k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cap="none" dirty="0">
                <a:latin typeface="+mj-lt"/>
              </a:rPr>
              <a:t>Total orders: 21K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cap="none" dirty="0">
                <a:latin typeface="+mj-lt"/>
              </a:rPr>
              <a:t>Total pizzas sold: 49K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cap="none" dirty="0">
                <a:latin typeface="+mj-lt"/>
              </a:rPr>
              <a:t>Average order value: $38.31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cap="none" dirty="0">
                <a:latin typeface="+mj-lt"/>
              </a:rPr>
              <a:t>Average pizzas per order: 2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cap="none" dirty="0">
                <a:latin typeface="+mj-lt"/>
              </a:rPr>
              <a:t>Average order per day: 60</a:t>
            </a:r>
          </a:p>
          <a:p>
            <a:endParaRPr lang="en-US" sz="2000" cap="none" dirty="0">
              <a:latin typeface="+mj-lt"/>
            </a:endParaRPr>
          </a:p>
          <a:p>
            <a:br>
              <a:rPr lang="en-US" sz="2000" cap="none" dirty="0">
                <a:latin typeface="+mj-lt"/>
              </a:rPr>
            </a:br>
            <a:r>
              <a:rPr lang="en-US" sz="2000" b="1" cap="none" dirty="0">
                <a:latin typeface="+mj-lt"/>
              </a:rPr>
              <a:t>Insight:</a:t>
            </a:r>
          </a:p>
          <a:p>
            <a:r>
              <a:rPr lang="en-US" sz="2000" b="1" cap="none" dirty="0">
                <a:latin typeface="+mj-lt"/>
              </a:rPr>
              <a:t>The business shows strong overall sales volume with customers ordering multiple pizzas per transaction</a:t>
            </a:r>
            <a:r>
              <a:rPr lang="en-US" sz="2000" cap="none" dirty="0">
                <a:latin typeface="+mj-lt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06D2BF-4634-1B1F-3F40-0A18C944F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32" y="4773508"/>
            <a:ext cx="1398315" cy="16691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A24BA3-3AC6-B15E-A73D-CF24260D55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8050" y="4773509"/>
            <a:ext cx="1398314" cy="16691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5DC3F6-117D-1E01-4697-1ADCC0992F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032" y="1475510"/>
            <a:ext cx="1398315" cy="14071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82C7B8-1AF6-44EB-797F-D730B6EC9D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032" y="3013364"/>
            <a:ext cx="1398315" cy="15345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246BEF-824F-6F74-EDAA-5F563DFB85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8051" y="3013363"/>
            <a:ext cx="1398315" cy="15384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D9D67CC-F322-DEE4-421E-21AD257771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08050" y="1474389"/>
            <a:ext cx="1398315" cy="140716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FB9345E-CAF6-F062-365F-882817DA7D24}"/>
              </a:ext>
            </a:extLst>
          </p:cNvPr>
          <p:cNvSpPr txBox="1"/>
          <p:nvPr/>
        </p:nvSpPr>
        <p:spPr>
          <a:xfrm>
            <a:off x="11480304" y="6257955"/>
            <a:ext cx="18622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58FB4751-880F-D840-AAA9-3A15815CC996}" type="slidenum">
              <a:rPr lang="en-US" sz="2400" smtClean="0">
                <a:latin typeface="+mj-lt"/>
              </a:rPr>
              <a:pPr/>
              <a:t>4</a:t>
            </a:fld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16972"/>
            <a:ext cx="7534656" cy="914400"/>
          </a:xfrm>
        </p:spPr>
        <p:txBody>
          <a:bodyPr/>
          <a:lstStyle/>
          <a:p>
            <a:r>
              <a:rPr lang="en-US" sz="4000" dirty="0"/>
              <a:t>PEAK ORDERING TIME</a:t>
            </a:r>
            <a:br>
              <a:rPr lang="en-US" sz="1800" dirty="0"/>
            </a:b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66256" y="1426049"/>
            <a:ext cx="6473536" cy="4037202"/>
          </a:xfrm>
        </p:spPr>
        <p:txBody>
          <a:bodyPr>
            <a:normAutofit/>
          </a:bodyPr>
          <a:lstStyle/>
          <a:p>
            <a:r>
              <a:rPr lang="en-US" b="1" dirty="0">
                <a:latin typeface="+mj-lt"/>
              </a:rPr>
              <a:t>Customer ordering patterns by time</a:t>
            </a:r>
            <a:endParaRPr lang="en-US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</a:rPr>
              <a:t>Peak ordering period is 12pm – 3pm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</a:rPr>
              <a:t>Evening hours (6pm – 9pm) also show high demand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</a:rPr>
              <a:t>Lowest orders occur during morning hours</a:t>
            </a:r>
            <a:br>
              <a:rPr lang="en-US" dirty="0">
                <a:latin typeface="+mj-lt"/>
              </a:rPr>
            </a:br>
            <a:endParaRPr lang="en-US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b="1" dirty="0">
                <a:latin typeface="+mj-lt"/>
              </a:rPr>
              <a:t>Insight:</a:t>
            </a:r>
          </a:p>
          <a:p>
            <a:pPr marL="0" indent="0">
              <a:buNone/>
            </a:pPr>
            <a:r>
              <a:rPr lang="en-US" b="1" dirty="0">
                <a:latin typeface="+mj-lt"/>
              </a:rPr>
              <a:t>Sales are concentrated around lunch and evening periods.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F4BD89-97F7-C5FF-1C84-E0B4AD48C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427" y="1174172"/>
            <a:ext cx="4727864" cy="470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436" y="164233"/>
            <a:ext cx="9164781" cy="726059"/>
          </a:xfrm>
        </p:spPr>
        <p:txBody>
          <a:bodyPr anchor="b"/>
          <a:lstStyle/>
          <a:p>
            <a:r>
              <a:rPr lang="en-US" sz="4000" dirty="0"/>
              <a:t>SALES BY PIZZA CATEGORY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846849-DC0A-EE3B-2E5E-D669EC1273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51117" y="890292"/>
            <a:ext cx="7553159" cy="2185417"/>
          </a:xfrm>
        </p:spPr>
        <p:txBody>
          <a:bodyPr>
            <a:normAutofit/>
          </a:bodyPr>
          <a:lstStyle/>
          <a:p>
            <a:pPr algn="l"/>
            <a:r>
              <a:rPr lang="en-US" sz="2000" b="1" cap="none" dirty="0">
                <a:latin typeface="+mj-lt"/>
              </a:rPr>
              <a:t>Quantity sold per category</a:t>
            </a:r>
          </a:p>
          <a:p>
            <a:pPr algn="l"/>
            <a:endParaRPr lang="en-US" sz="2000" cap="none" dirty="0">
              <a:latin typeface="+mj-lt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cap="none" dirty="0">
                <a:latin typeface="+mj-lt"/>
              </a:rPr>
              <a:t>Classic pizzas have the highest quantity sold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cap="none" dirty="0">
                <a:latin typeface="+mj-lt"/>
              </a:rPr>
              <a:t>Followed by supreme and veggie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cap="none" dirty="0">
                <a:latin typeface="+mj-lt"/>
              </a:rPr>
              <a:t>Chicken pizzas record the lowest quantity sold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87361E-ABB8-182E-3C22-626A23E1A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103" y="2704772"/>
            <a:ext cx="6354502" cy="3988995"/>
          </a:xfrm>
          <a:prstGeom prst="rect">
            <a:avLst/>
          </a:prstGeom>
        </p:spPr>
      </p:pic>
      <p:pic>
        <p:nvPicPr>
          <p:cNvPr id="2054" name="Picture 6" descr="359 Pizza Slice Different Toppings Stock Photos - Free &amp; Royalty-Free Stock  Photos from Dreamstime">
            <a:extLst>
              <a:ext uri="{FF2B5EF4-FFF2-40B4-BE49-F238E27FC236}">
                <a16:creationId xmlns:a16="http://schemas.microsoft.com/office/drawing/2014/main" id="{2EFCF7D5-CB58-47DD-5D3A-E9E5232163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375111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332" y="173621"/>
            <a:ext cx="10360152" cy="914400"/>
          </a:xfrm>
        </p:spPr>
        <p:txBody>
          <a:bodyPr/>
          <a:lstStyle/>
          <a:p>
            <a:r>
              <a:rPr lang="en-US" sz="4000" dirty="0"/>
              <a:t>REVENUE BY PIZZA CATEGORY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F3CEF66-C6D7-C765-24E7-1DCFB38FE51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46172" y="1284790"/>
            <a:ext cx="4576953" cy="4668069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latin typeface="+mj-lt"/>
              </a:rPr>
              <a:t>Revenue Contribution</a:t>
            </a:r>
            <a:endParaRPr lang="en-US" dirty="0">
              <a:latin typeface="+mj-lt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</a:rPr>
              <a:t>Classic category generates the highest revenue 		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</a:rPr>
              <a:t>Supreme and Veggie categories closely follow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</a:rPr>
              <a:t>Veggie pizzas are the </a:t>
            </a:r>
            <a:r>
              <a:rPr lang="en-US" b="1" dirty="0">
                <a:latin typeface="+mj-lt"/>
              </a:rPr>
              <a:t>most expensive pizza type</a:t>
            </a:r>
          </a:p>
          <a:p>
            <a:endParaRPr lang="en-US" b="1" dirty="0">
              <a:latin typeface="+mj-lt"/>
            </a:endParaRPr>
          </a:p>
          <a:p>
            <a:endParaRPr lang="en-US" b="1" dirty="0">
              <a:latin typeface="+mj-lt"/>
            </a:endParaRPr>
          </a:p>
          <a:p>
            <a:r>
              <a:rPr lang="en-US" b="1" dirty="0">
                <a:latin typeface="+mj-lt"/>
              </a:rPr>
              <a:t>Insight: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High pricing does not always translate to highest sales volume.</a:t>
            </a:r>
          </a:p>
          <a:p>
            <a:pPr lvl="1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175363-1E7C-1AE7-8BBF-BCD89AA19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84" y="1357132"/>
            <a:ext cx="6004097" cy="4823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A49C0DA-C8AE-5ECC-149A-D60ECFF8C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68" y="-1"/>
            <a:ext cx="9041383" cy="705045"/>
          </a:xfrm>
        </p:spPr>
        <p:txBody>
          <a:bodyPr/>
          <a:lstStyle/>
          <a:p>
            <a:pPr algn="ctr"/>
            <a:r>
              <a:rPr lang="en-US" sz="4000" dirty="0"/>
              <a:t>TOP-SELLING PIZZAS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6F2BA06-39BD-0413-D150-70F75EA6CC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3349" y="725785"/>
            <a:ext cx="3364992" cy="39044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+mj-lt"/>
              </a:rPr>
              <a:t>Top 5 Pizzas by Number of Orders</a:t>
            </a:r>
            <a:endParaRPr lang="en-US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</a:rPr>
              <a:t>Big Meat (S)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</a:rPr>
              <a:t>Thai Chicken (L)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</a:rPr>
              <a:t>Five Cheese (L)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</a:rPr>
              <a:t>Four Cheese (L)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</a:rPr>
              <a:t>Classic Deluxe (M)</a:t>
            </a:r>
          </a:p>
          <a:p>
            <a:pPr marL="0" indent="0">
              <a:buNone/>
            </a:pPr>
            <a:r>
              <a:rPr lang="en-US" b="1" dirty="0">
                <a:latin typeface="+mj-lt"/>
              </a:rPr>
              <a:t>Insight: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Customer demand is concentrated on a small number of menu items.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8AB6BA-6AF4-7DD4-ACD4-CE5420249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8341" y="918796"/>
            <a:ext cx="5330141" cy="3518465"/>
          </a:xfrm>
          <a:prstGeom prst="rect">
            <a:avLst/>
          </a:prstGeom>
        </p:spPr>
      </p:pic>
      <p:pic>
        <p:nvPicPr>
          <p:cNvPr id="3074" name="Picture 2" descr="BBQ Chicken Pizza">
            <a:extLst>
              <a:ext uri="{FF2B5EF4-FFF2-40B4-BE49-F238E27FC236}">
                <a16:creationId xmlns:a16="http://schemas.microsoft.com/office/drawing/2014/main" id="{754F732F-705B-6640-E5E5-1939EC84C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897" y="4951140"/>
            <a:ext cx="3231376" cy="1906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Savory chicken veggie pizza recipe ideas">
            <a:extLst>
              <a:ext uri="{FF2B5EF4-FFF2-40B4-BE49-F238E27FC236}">
                <a16:creationId xmlns:a16="http://schemas.microsoft.com/office/drawing/2014/main" id="{EADF5BFA-3576-907A-C440-61D593F61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3511" y="4871846"/>
            <a:ext cx="2488930" cy="2033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Best Veggie Pizza Recipe">
            <a:extLst>
              <a:ext uri="{FF2B5EF4-FFF2-40B4-BE49-F238E27FC236}">
                <a16:creationId xmlns:a16="http://schemas.microsoft.com/office/drawing/2014/main" id="{42C52A68-34AF-7F32-05FB-ADFCB9F00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2090" y="4819"/>
            <a:ext cx="2676142" cy="2206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8" descr="Weeknight Chicken Veggie Pizza">
            <a:extLst>
              <a:ext uri="{FF2B5EF4-FFF2-40B4-BE49-F238E27FC236}">
                <a16:creationId xmlns:a16="http://schemas.microsoft.com/office/drawing/2014/main" id="{23F50C16-8026-37C0-681F-F779B8A5BE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1516566" cy="1516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84" name="Picture 12" descr="Weeknight Chicken Veggie Pizza">
            <a:extLst>
              <a:ext uri="{FF2B5EF4-FFF2-40B4-BE49-F238E27FC236}">
                <a16:creationId xmlns:a16="http://schemas.microsoft.com/office/drawing/2014/main" id="{EFF4DB37-E946-7A68-12A9-C99130FDD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1629" y="2400735"/>
            <a:ext cx="2666603" cy="2277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" name="Picture 20" descr="ITALIAN PEPPERONI PIZZA RECIPE (Ready in 25 minutes)- Worldlytreat">
            <a:extLst>
              <a:ext uri="{FF2B5EF4-FFF2-40B4-BE49-F238E27FC236}">
                <a16:creationId xmlns:a16="http://schemas.microsoft.com/office/drawing/2014/main" id="{50A96DBD-15C9-20B1-B0E0-B6DDED89A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349" y="4966021"/>
            <a:ext cx="3492310" cy="1906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044F7-BD97-2FDE-4E33-A565BCF0E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082" y="66901"/>
            <a:ext cx="11712499" cy="1182030"/>
          </a:xfrm>
        </p:spPr>
        <p:txBody>
          <a:bodyPr/>
          <a:lstStyle/>
          <a:p>
            <a:pPr algn="ctr"/>
            <a:r>
              <a:rPr lang="en-US" sz="4000" dirty="0"/>
              <a:t>ORDERS BY DAY, MONTH &amp; QUARTER ORDER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97F60-88E2-C430-D52B-6604405AD55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23384" y="1438505"/>
            <a:ext cx="5650992" cy="1873404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</a:rPr>
              <a:t>Fridays and Saturdays record the highest orders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</a:rPr>
              <a:t>Monthly sales fluctuate with noticeable peaks mid-year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>
                <a:latin typeface="+mj-lt"/>
              </a:rPr>
              <a:t>Quarter 3 shows the highest order volume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E597F60-88E2-C430-D52B-6604405AD55C}"/>
              </a:ext>
            </a:extLst>
          </p:cNvPr>
          <p:cNvSpPr txBox="1">
            <a:spLocks/>
          </p:cNvSpPr>
          <p:nvPr/>
        </p:nvSpPr>
        <p:spPr>
          <a:xfrm>
            <a:off x="7036420" y="1438513"/>
            <a:ext cx="4999463" cy="1564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+mj-lt"/>
              </a:rPr>
              <a:t>Insight: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Sales patterns suggest opportunities for targeted promotions during low-demand periods.</a:t>
            </a:r>
          </a:p>
          <a:p>
            <a:endParaRPr lang="en-US" dirty="0"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DEF808-F88D-7EC6-34F5-4C685B0BC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21" y="3501484"/>
            <a:ext cx="3821153" cy="32227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E3D157-C8E8-E774-E9BE-07BD04C14E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166" y="3512635"/>
            <a:ext cx="3464313" cy="32227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ED40C8B-E7E0-E632-C722-08FEDF2243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2761" y="3523778"/>
            <a:ext cx="3601843" cy="322270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0AB380E-35B0-90D8-96C3-25DC70DB94E9}"/>
              </a:ext>
            </a:extLst>
          </p:cNvPr>
          <p:cNvSpPr txBox="1"/>
          <p:nvPr/>
        </p:nvSpPr>
        <p:spPr>
          <a:xfrm>
            <a:off x="11626076" y="6396335"/>
            <a:ext cx="565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58FB4751-880F-D840-AAA9-3A15815CC996}" type="slidenum">
              <a:rPr lang="en-US" sz="2400" smtClean="0">
                <a:latin typeface="+mj-lt"/>
              </a:rPr>
              <a:pPr/>
              <a:t>9</a:t>
            </a:fld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96E3FD31-D19A-BFEB-821F-C00103830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4" y="0"/>
            <a:ext cx="5698270" cy="697014"/>
          </a:xfrm>
        </p:spPr>
        <p:txBody>
          <a:bodyPr/>
          <a:lstStyle/>
          <a:p>
            <a:r>
              <a:rPr lang="en-US" sz="4000" dirty="0"/>
              <a:t>SALES BY PIZZA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ADB94-FC21-07C5-1FC9-E729C5DEDFC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34896" y="853426"/>
            <a:ext cx="2816352" cy="3840480"/>
          </a:xfrm>
        </p:spPr>
        <p:txBody>
          <a:bodyPr>
            <a:normAutofit fontScale="92500" lnSpcReduction="20000"/>
          </a:bodyPr>
          <a:lstStyle/>
          <a:p>
            <a:r>
              <a:rPr lang="en-US" sz="2200" b="1" dirty="0">
                <a:latin typeface="+mj-lt"/>
              </a:rPr>
              <a:t>Customer Size Preference</a:t>
            </a:r>
            <a:endParaRPr lang="en-US" sz="2200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b="1" dirty="0">
                <a:latin typeface="+mj-lt"/>
              </a:rPr>
              <a:t>Large (L)</a:t>
            </a:r>
            <a:r>
              <a:rPr lang="en-US" sz="2200" dirty="0">
                <a:latin typeface="+mj-lt"/>
              </a:rPr>
              <a:t> pizzas generate the highest sales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dirty="0">
                <a:latin typeface="+mj-lt"/>
              </a:rPr>
              <a:t>Medium (M) and Small (S) sizes follow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dirty="0">
                <a:latin typeface="+mj-lt"/>
              </a:rPr>
              <a:t>Extra-large sizes contribute minimally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b="1" dirty="0">
                <a:latin typeface="+mj-lt"/>
              </a:rPr>
              <a:t>Insight: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Customers strongly prefer larger pizza sizes.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76313-F1C8-57CB-82F6-54BC07D3B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D782B2-F51D-832F-7460-0D2483201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25042" y="0"/>
            <a:ext cx="6866958" cy="4772722"/>
          </a:xfrm>
          <a:prstGeom prst="rect">
            <a:avLst/>
          </a:prstGeom>
        </p:spPr>
      </p:pic>
      <p:pic>
        <p:nvPicPr>
          <p:cNvPr id="4098" name="Picture 2" descr="How Many Slices in a Pizza? Size Guide by Chain (2026)">
            <a:extLst>
              <a:ext uri="{FF2B5EF4-FFF2-40B4-BE49-F238E27FC236}">
                <a16:creationId xmlns:a16="http://schemas.microsoft.com/office/drawing/2014/main" id="{AE7C26E7-48FB-F037-B8BC-7380E29DA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72722"/>
            <a:ext cx="11353800" cy="2106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7809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B33A77B-664F-FFD3-D61A-0D344C269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619" y="64009"/>
            <a:ext cx="10360152" cy="914400"/>
          </a:xfrm>
        </p:spPr>
        <p:txBody>
          <a:bodyPr/>
          <a:lstStyle/>
          <a:p>
            <a:pPr algn="ctr"/>
            <a:r>
              <a:rPr lang="en-US" sz="4000" dirty="0"/>
              <a:t>KEY BUSINESS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B0F3C-5228-C9FB-1212-1D4894C80B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1248937"/>
            <a:ext cx="9188606" cy="46306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+mj-lt"/>
              </a:rPr>
              <a:t>Summary of Insights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cap="none" dirty="0">
                <a:latin typeface="+mj-lt"/>
              </a:rPr>
              <a:t>Sales peak between </a:t>
            </a:r>
            <a:r>
              <a:rPr lang="en-US" b="1" cap="none" dirty="0">
                <a:latin typeface="+mj-lt"/>
              </a:rPr>
              <a:t>12pm – 3pm</a:t>
            </a:r>
          </a:p>
          <a:p>
            <a:pPr>
              <a:buFont typeface="Wingdings" panose="05000000000000000000" pitchFamily="2" charset="2"/>
              <a:buChar char="v"/>
            </a:pPr>
            <a:endParaRPr lang="en-US" cap="none" dirty="0">
              <a:latin typeface="+mj-lt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cap="none" dirty="0">
                <a:latin typeface="+mj-lt"/>
              </a:rPr>
              <a:t>Classic pizzas dominate both revenue and quantity sold</a:t>
            </a:r>
          </a:p>
          <a:p>
            <a:pPr>
              <a:buFont typeface="Wingdings" panose="05000000000000000000" pitchFamily="2" charset="2"/>
              <a:buChar char="v"/>
            </a:pPr>
            <a:endParaRPr lang="en-US" cap="none" dirty="0">
              <a:latin typeface="+mj-lt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cap="none" dirty="0">
                <a:latin typeface="+mj-lt"/>
              </a:rPr>
              <a:t>A few pizzas account for most orders</a:t>
            </a:r>
          </a:p>
          <a:p>
            <a:pPr>
              <a:buFont typeface="Wingdings" panose="05000000000000000000" pitchFamily="2" charset="2"/>
              <a:buChar char="v"/>
            </a:pPr>
            <a:endParaRPr lang="en-US" cap="none" dirty="0">
              <a:latin typeface="+mj-lt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cap="none" dirty="0">
                <a:latin typeface="+mj-lt"/>
              </a:rPr>
              <a:t>Veggie pizzas are priced highest but not top-selling</a:t>
            </a:r>
          </a:p>
          <a:p>
            <a:pPr>
              <a:buFont typeface="Wingdings" panose="05000000000000000000" pitchFamily="2" charset="2"/>
              <a:buChar char="v"/>
            </a:pPr>
            <a:endParaRPr lang="en-US" cap="none" dirty="0">
              <a:latin typeface="+mj-lt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cap="none" dirty="0">
                <a:latin typeface="+mj-lt"/>
              </a:rPr>
              <a:t>Larger pizza sizes are most preferred by customers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9500A-4B75-29F9-CE37-C3E13D6A5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147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E4F88F8-17E5-45E3-77B1-77FACD99F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356" y="0"/>
            <a:ext cx="10360152" cy="996697"/>
          </a:xfrm>
        </p:spPr>
        <p:txBody>
          <a:bodyPr/>
          <a:lstStyle/>
          <a:p>
            <a:pPr algn="ctr"/>
            <a:r>
              <a:rPr lang="en-US" sz="4000" dirty="0"/>
              <a:t>Business Recommendations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469ED-926E-7CEE-5AF2-BF9AC726D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9C2FE2B-E410-AEF4-9E16-454392F69E67}"/>
              </a:ext>
            </a:extLst>
          </p:cNvPr>
          <p:cNvSpPr txBox="1">
            <a:spLocks/>
          </p:cNvSpPr>
          <p:nvPr/>
        </p:nvSpPr>
        <p:spPr>
          <a:xfrm>
            <a:off x="507492" y="996697"/>
            <a:ext cx="11335103" cy="577900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+mj-lt"/>
              </a:rPr>
              <a:t>Recommended Actions</a:t>
            </a:r>
          </a:p>
          <a:p>
            <a:pPr marL="0" indent="0">
              <a:buNone/>
            </a:pPr>
            <a:endParaRPr lang="en-US" sz="2000" dirty="0"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+mj-lt"/>
              </a:rPr>
              <a:t>Focus promotions on </a:t>
            </a:r>
            <a:r>
              <a:rPr lang="en-US" altLang="en-US" sz="2000" b="1" dirty="0">
                <a:latin typeface="+mj-lt"/>
              </a:rPr>
              <a:t>top-selling pizzas</a:t>
            </a:r>
            <a:r>
              <a:rPr lang="en-US" altLang="en-US" sz="2000" dirty="0">
                <a:latin typeface="+mj-lt"/>
              </a:rPr>
              <a:t> (Big Meat, Thai Chicken, Cheese varieties) as they generate most orders.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+mj-lt"/>
              </a:rPr>
              <a:t>Optimize staffing and pizza preparation during </a:t>
            </a:r>
            <a:r>
              <a:rPr lang="en-US" altLang="en-US" sz="2000" b="1" dirty="0">
                <a:latin typeface="+mj-lt"/>
              </a:rPr>
              <a:t>peak hours (12pm–3pm)</a:t>
            </a:r>
            <a:r>
              <a:rPr lang="en-US" altLang="en-US" sz="2000" dirty="0">
                <a:latin typeface="+mj-lt"/>
              </a:rPr>
              <a:t> to improve service efficiency.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+mj-lt"/>
              </a:rPr>
              <a:t>Promote </a:t>
            </a:r>
            <a:r>
              <a:rPr lang="en-US" altLang="en-US" sz="2000" b="1" dirty="0">
                <a:latin typeface="+mj-lt"/>
              </a:rPr>
              <a:t>Large-sized pizzas</a:t>
            </a:r>
            <a:r>
              <a:rPr lang="en-US" altLang="en-US" sz="2000" dirty="0">
                <a:latin typeface="+mj-lt"/>
              </a:rPr>
              <a:t>, which are the most preferred and generate the highest sales.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+mj-lt"/>
              </a:rPr>
              <a:t>Review and adjust the </a:t>
            </a:r>
            <a:r>
              <a:rPr lang="en-US" altLang="en-US" sz="2000" b="1" dirty="0">
                <a:latin typeface="+mj-lt"/>
              </a:rPr>
              <a:t>pricing strategy for Veggie pizzas</a:t>
            </a:r>
            <a:r>
              <a:rPr lang="en-US" altLang="en-US" sz="2000" dirty="0">
                <a:latin typeface="+mj-lt"/>
              </a:rPr>
              <a:t>, which are the most expensive but not top-selling.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+mj-lt"/>
              </a:rPr>
              <a:t>Reduce menu complexity by </a:t>
            </a:r>
            <a:r>
              <a:rPr lang="en-US" altLang="en-US" sz="2000" b="1" dirty="0">
                <a:latin typeface="+mj-lt"/>
              </a:rPr>
              <a:t>reviewing or reworking low-performing pizzas</a:t>
            </a:r>
            <a:r>
              <a:rPr lang="en-US" altLang="en-US" sz="2000" dirty="0">
                <a:latin typeface="+mj-lt"/>
              </a:rPr>
              <a:t> to cut costs and waste.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+mj-lt"/>
              </a:rPr>
              <a:t>Introduce </a:t>
            </a:r>
            <a:r>
              <a:rPr lang="en-US" altLang="en-US" sz="2000" b="1" dirty="0">
                <a:latin typeface="+mj-lt"/>
              </a:rPr>
              <a:t>weekday and off-peak promotions</a:t>
            </a:r>
            <a:r>
              <a:rPr lang="en-US" altLang="en-US" sz="2000" dirty="0">
                <a:latin typeface="+mj-lt"/>
              </a:rPr>
              <a:t> to boost sales during slower periods.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64996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6DCC38C-603B-CCD0-2914-0BBCD4F4F7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/>
          <a:lstStyle/>
          <a:p>
            <a:r>
              <a:rPr lang="en-US" dirty="0"/>
              <a:t>Afolayan </a:t>
            </a:r>
            <a:r>
              <a:rPr lang="en-US" dirty="0" err="1"/>
              <a:t>oreofeoluwa</a:t>
            </a:r>
            <a:endParaRPr lang="en-US" dirty="0"/>
          </a:p>
          <a:p>
            <a:r>
              <a:rPr lang="en-US" dirty="0"/>
              <a:t>+234 816 525 2977</a:t>
            </a:r>
          </a:p>
          <a:p>
            <a:pPr lvl="1"/>
            <a:r>
              <a:rPr lang="en-US" dirty="0"/>
              <a:t>elsieagnes804@gmail.com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Organic presentation</Template>
  <TotalTime>146</TotalTime>
  <Words>597</Words>
  <Application>Microsoft Office PowerPoint</Application>
  <PresentationFormat>Widescreen</PresentationFormat>
  <Paragraphs>120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Courier New</vt:lpstr>
      <vt:lpstr>Gill Sans Nova Light</vt:lpstr>
      <vt:lpstr>Sagona Book</vt:lpstr>
      <vt:lpstr>Wingdings</vt:lpstr>
      <vt:lpstr>Custom</vt:lpstr>
      <vt:lpstr>PIZZA SALES DATA ANALYSIS – BUSINESS SUMMARY  by  AFOLAYAN OREOFEOLUWA 10th of February, 2026 </vt:lpstr>
      <vt:lpstr>OUTLINE</vt:lpstr>
      <vt:lpstr>DATASET OVERVIEW</vt:lpstr>
      <vt:lpstr>OVERALL BUSINESS PERFORMANCE: KEY PERFORMANCE INDICATORS (KPIS)</vt:lpstr>
      <vt:lpstr>PEAK ORDERING TIME </vt:lpstr>
      <vt:lpstr>SALES BY PIZZA CATEGORY</vt:lpstr>
      <vt:lpstr>REVENUE BY PIZZA CATEGORY</vt:lpstr>
      <vt:lpstr>TOP-SELLING PIZZAS</vt:lpstr>
      <vt:lpstr>ORDERS BY DAY, MONTH &amp; QUARTER ORDER TRENDS</vt:lpstr>
      <vt:lpstr>SALES BY PIZZA SIZE</vt:lpstr>
      <vt:lpstr>KEY BUSINESS FINDINGS</vt:lpstr>
      <vt:lpstr>Business Recommendations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Oyinkansola Oladipupo</dc:creator>
  <cp:lastModifiedBy>Oyinkansola Oladipupo</cp:lastModifiedBy>
  <cp:revision>6</cp:revision>
  <dcterms:created xsi:type="dcterms:W3CDTF">2026-02-09T21:14:06Z</dcterms:created>
  <dcterms:modified xsi:type="dcterms:W3CDTF">2026-02-10T08:43:33Z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